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040880" cy="2286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1B253A"/>
                </a:solidFill>
                <a:latin typeface="Aptos"/>
              </a:rPr>
              <a:t>Жизненный цикл
промышленного внедрения
и сопровождения ИИ-решений</a:t>
            </a:r>
            <a:endParaRPr sz="34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3474720"/>
            <a:ext cx="6400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3D6CE0"/>
                </a:solidFill>
                <a:latin typeface="Aptos"/>
              </a:rPr>
              <a:t>Стандарты технической и эксплуатационной документации</a:t>
            </a:r>
            <a:endParaRPr sz="1900" b="0">
              <a:solidFill>
                <a:srgbClr val="3D6CE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4096512"/>
            <a:ext cx="5943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697280"/>
                </a:solidFill>
                <a:latin typeface="Aptos"/>
              </a:rPr>
              <a:t>Введение в промышленную разработку ИИ</a:t>
            </a:r>
            <a:endParaRPr sz="1500" b="0">
              <a:solidFill>
                <a:srgbClr val="697280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9372600" y="1554480"/>
            <a:ext cx="658368" cy="658368"/>
          </a:xfrm>
          <a:prstGeom prst="ellipse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55448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600035" y="2263140"/>
            <a:ext cx="658368" cy="658368"/>
          </a:xfrm>
          <a:prstGeom prst="ellipse">
            <a:avLst/>
          </a:prstGeom>
          <a:solidFill>
            <a:srgbClr val="3A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0035" y="226314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600035" y="3680460"/>
            <a:ext cx="658368" cy="658368"/>
          </a:xfrm>
          <a:prstGeom prst="ellipse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0035" y="368046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372600" y="4389120"/>
            <a:ext cx="658368" cy="658368"/>
          </a:xfrm>
          <a:prstGeom prst="ellipse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438912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45164" y="3680460"/>
            <a:ext cx="658368" cy="658368"/>
          </a:xfrm>
          <a:prstGeom prst="ellipse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5164" y="368046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145164" y="2263139"/>
            <a:ext cx="658368" cy="658368"/>
          </a:xfrm>
          <a:prstGeom prst="ellipse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5164" y="226313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91855" y="2857500"/>
            <a:ext cx="22860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1B253A"/>
                </a:solidFill>
                <a:latin typeface="Aptos"/>
              </a:rPr>
              <a:t>ЖИЗНЕННЫЙ
ЦИКЛ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01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О чем сегодня поговорим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Oval 2"/>
          <p:cNvSpPr/>
          <p:nvPr/>
        </p:nvSpPr>
        <p:spPr>
          <a:xfrm>
            <a:off x="731520" y="1325880"/>
            <a:ext cx="475488" cy="475488"/>
          </a:xfrm>
          <a:prstGeom prst="ellipse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30759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Жизненный цикл и зачем он нужен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6309359" y="1325880"/>
            <a:ext cx="475488" cy="475488"/>
          </a:xfrm>
          <a:prstGeom prst="ellipse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32588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95159" y="130759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6 этапов жизни ИИ-проекта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2743200"/>
            <a:ext cx="475488" cy="475488"/>
          </a:xfrm>
          <a:prstGeom prst="ellipse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Промышленное внедрение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9359" y="2743200"/>
            <a:ext cx="475488" cy="475488"/>
          </a:xfrm>
          <a:prstGeom prst="ellipse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74320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5159" y="272491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Сопровождение и мониторинг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31520" y="4160520"/>
            <a:ext cx="475488" cy="475488"/>
          </a:xfrm>
          <a:prstGeom prst="ellipse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414223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Документация и российские стандарты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09359" y="4160520"/>
            <a:ext cx="475488" cy="475488"/>
          </a:xfrm>
          <a:prstGeom prst="ellipse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1605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5159" y="4142232"/>
            <a:ext cx="4754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B253A"/>
                </a:solidFill>
                <a:latin typeface="Aptos"/>
              </a:rPr>
              <a:t>Практика: реальный кейс</a:t>
            </a:r>
            <a:endParaRPr sz="18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02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Главная проблема ИИ-проектов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97280"/>
                </a:solidFill>
                <a:latin typeface="Aptos"/>
              </a:rPr>
              <a:t>Условная статистика — для понимания</a:t>
            </a:r>
            <a:endParaRPr sz="1300" b="0">
              <a:solidFill>
                <a:srgbClr val="697280"/>
              </a:solidFill>
              <a:latin typeface="Apto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" y="1417320"/>
            <a:ext cx="1737360" cy="1737360"/>
          </a:xfrm>
          <a:prstGeom prst="ellipse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737360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80%</a:t>
            </a:r>
            <a:endParaRPr sz="2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88920" y="1645920"/>
            <a:ext cx="274320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1B253A"/>
                </a:solidFill>
                <a:latin typeface="Aptos"/>
              </a:rPr>
              <a:t>не доходят до
промышленной
эксплуатации</a:t>
            </a:r>
            <a:endParaRPr sz="21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97880" y="123444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1234440"/>
            <a:ext cx="73152" cy="1874519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89888"/>
            <a:ext cx="20116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Данные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801495"/>
            <a:ext cx="1737360" cy="691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313D"/>
                </a:solidFill>
                <a:latin typeface="Aptos"/>
              </a:rPr>
              <a:t>Качество и доступность хуже ожиданий.</a:t>
            </a:r>
            <a:endParaRPr sz="13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41080" y="123444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1234440"/>
            <a:ext cx="73152" cy="1874519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389888"/>
            <a:ext cx="20116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Модель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0" y="1801495"/>
            <a:ext cx="1737360" cy="691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313D"/>
                </a:solidFill>
                <a:latin typeface="Aptos"/>
              </a:rPr>
              <a:t>В лаборатории работает, в реальности — нет.</a:t>
            </a:r>
            <a:endParaRPr sz="13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97880" y="347472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3474720"/>
            <a:ext cx="73152" cy="1874519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630168"/>
            <a:ext cx="20116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Поддержка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4041775"/>
            <a:ext cx="1717040" cy="691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313D"/>
                </a:solidFill>
                <a:latin typeface="Aptos"/>
              </a:rPr>
              <a:t>Непонятно, как мониторить и обновлять.</a:t>
            </a:r>
            <a:endParaRPr sz="13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41080" y="3474720"/>
            <a:ext cx="2423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3474720"/>
            <a:ext cx="73152" cy="1874519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630168"/>
            <a:ext cx="20116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Люди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69680" y="4041775"/>
            <a:ext cx="1776095" cy="691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A313D"/>
                </a:solidFill>
                <a:latin typeface="Aptos"/>
              </a:rPr>
              <a:t>Ушел автор — знания ушли вместе с ним.</a:t>
            </a:r>
            <a:endParaRPr sz="13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1B253A"/>
                </a:solidFill>
                <a:latin typeface="Aptos"/>
              </a:rPr>
              <a:t>Вывод: нужен план на весь «жизненный путь» системы.</a:t>
            </a:r>
            <a:endParaRPr sz="17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03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Жизненный цикл простыми словами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97280"/>
                </a:solidFill>
                <a:latin typeface="Aptos"/>
              </a:rPr>
              <a:t>Метафора: комнатное растение</a:t>
            </a:r>
            <a:endParaRPr sz="1300" b="0">
              <a:solidFill>
                <a:srgbClr val="697280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60020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Что сажать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Бизнес-задача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600200"/>
          </a:xfrm>
          <a:prstGeom prst="rect">
            <a:avLst/>
          </a:prstGeom>
          <a:solidFill>
            <a:srgbClr val="3A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813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Земля и семена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20" y="1892807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Данные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388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25880"/>
            <a:ext cx="73152" cy="160020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813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Растить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1892807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Обучение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80"/>
            <a:ext cx="73152" cy="1600200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Проверить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8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Тестирование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891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383280"/>
            <a:ext cx="73152" cy="1600200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387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Пересадить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17720" y="3950208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Внедрение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8388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3383280"/>
            <a:ext cx="73152" cy="1600200"/>
          </a:xfrm>
          <a:prstGeom prst="rect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538728"/>
            <a:ext cx="2926079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Ухаживать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0" y="3950208"/>
            <a:ext cx="2926079" cy="941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Сопровождение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4AA470"/>
                </a:solidFill>
                <a:latin typeface="Aptos"/>
              </a:rPr>
              <a:t>Растение живет, пока его поливают. ИИ-решение — пока его сопровождают.</a:t>
            </a:r>
            <a:endParaRPr sz="1800" b="1">
              <a:solidFill>
                <a:srgbClr val="4AA47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04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1 — Бизнес-задача (Discovery)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57375"/>
            <a:ext cx="4375785" cy="23069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На этом этапе не начинаем с кода.
1. Какую проблему решаем?
2. Кто будет пользоваться?
3. Как измерим успех?
Пример: не «нужна нейросеть», а «автоматически распределять письма клиентов по отделам».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9545" y="1783080"/>
            <a:ext cx="367030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Пример: РСХБ и платформа RAISA — управление ИИ-моделями и бизнес-сценариями.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05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2 — Работа с данными (Data Engineering)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536440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Собрать → очистить → проверить → разметить.
Данные могут занимать большую часть времени проекта. Качество входа напрямую влияет на результат.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20560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Золотое правило: «Мусор на входе — мусор на выходе».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06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Пример с данными: медицинская диагностика на Ямале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A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30085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Платформа «МосМедИИ» анализирует рентгеновские снимки и помогает отбирать снимки без отклонений.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30085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По представленному кейсу: более 550 000 снимков; время описания сократилось примерно на 15%.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07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3 — Обучение модели (ML Development)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536440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Здесь алгоритм учит</a:t>
            </a:r>
            <a:r>
              <a:rPr lang="ru-RU" sz="1600" b="0">
                <a:solidFill>
                  <a:srgbClr val="2A313D"/>
                </a:solidFill>
                <a:latin typeface="Aptos"/>
              </a:rPr>
              <a:t>ь</a:t>
            </a:r>
            <a:r>
              <a:rPr sz="1600" b="0">
                <a:solidFill>
                  <a:srgbClr val="2A313D"/>
                </a:solidFill>
                <a:latin typeface="Aptos"/>
              </a:rPr>
              <a:t>ся находить закономерности в данных.
Рецепт = алгоритм; повар = Data Scientist; ингредиенты = данные; проба блюда = тест.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35483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Важно: обучение часто НЕ самый долгий этап — подготовка данных может занять больше времени.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08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4 — Тестирование и валидация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407535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Проверяем модель на данных, которых она не видела.
10 000 фото → обучение
100 новых фото → тест
90 правильных → 90% точности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19417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Overfitting: модель выучила «экзамен», но плохо работает на новых данных.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09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5 — Промышленное внедрение (Deployment)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22656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Эксперимент превращается в сервис: код → сервер → API → реальный пользователь.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226560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Пример: «ML Фаб» RAMAX Group — управление жизненным циклом моделей и сокращение Time to Market.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10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Что такое промышленная эксплуатация?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26910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Это работа системы у реальных пользователей 24/7, а не только на компьютере разработчика.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381952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Требования: надежность, производительность, безопасность, масштабируемость.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11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Этап 6 — Сопровождение (Maintenance)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44055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Постоянно: мониторим сервер и качество, обновляем модель и данные, исправляем ошибки.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19417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Самый длинный этап: система живет, пока команда за ней ухаживает.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12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Почему модель может «сломаться»?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84060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Data Drift — изменились входные данные.
Concept Drift — изменилась связь между данными и правильным ответом.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25831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Примеры: новые породы котов; изменившееся поведение покупателей.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13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RAISA: пример управления жизненным циклом ИИ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A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49453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JupyterHub — эксперименты; MLflow — версии моделей; Evidently — мониторинг; Airflow — процессы данных; GitLab CI/CD — доставка.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49453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По представленному кейсу: более 3000 сотрудников; около 700 млн ₽ экономического эффекта от одного проекта.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14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MLOps — Machine Learning + Operations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451350" cy="1322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Практики, объединяющие разработку и эксплуатацию ML.
Стандартизация + автоматизация + надежность.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35419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Пример: MLOps-платформа Уралсиба и GlowByte — Kubernetes + GitLab CI/CD.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15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Зачем нужна документация?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830445" cy="1322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Память → команда → заказчик → безопасность.
Документация передает знания и делает систему воспроизводимой.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088"/>
            <a:ext cx="4846320" cy="3822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«Что не записано — того не существует».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16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Стандарты документации в России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846320" cy="3822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ГОСТ Р 71752-2024 — ТЗ для ИИ-систем.
ГОСТ Р 59276-2020 — доверие к ИИ.
ГОСТ Р ИСО/МЭК 12207 — жизненный цикл ПО.
ГОСТ 34.601 — стадии создания АС.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48373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Для курса: главное понимать, что процессы и требования можно формализовать.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17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Документ №1 — Техническое задание (ТЗ)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61200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ТЗ фиксирует цель, требования к результату и процессу, контроль и отчетность.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48310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ТЗ помогает ответить на вопрос: «Что именно мы обещали сделать?»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18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Пример ТЗ: ИИ определяет породу кота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840605" cy="1322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Цель: определять породу по JPEG/PNG.
Выход: название породы.
Качество: ≥85%.
Срок: 3 месяца разработка + 1 месяц внедрение.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57898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Приемка: 100 новых фото, которых модель не видела.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19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Документ №2 — Архитектурная документация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86156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Чертеж системы: компоненты, связи, серверы, БД, API.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48373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Пример: Пользователь → Интернет → API-шлюз → Сервер модели → БД.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20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Документ №3 — Эксплуатационная документация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D24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57898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Инструкция дежурному: что делать при сбое, как обновить модель, кто отвечает за сервер, данные и модель.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75488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Мини-алгоритм: логи → сервис → БД → эскалация.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21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Blue-Green Deployment — обновление без остановки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599940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Есть два окружения: Green работает, Blue принимает новую версию.
Проверяем Blue → переключаем пользователей → при проблеме возвращаемся на Green.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5999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CI/CD помогает автоматизировать путь до эксплуатации.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22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Мониторинг — следим за здоровьем системы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707255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Метрики: время ответа, ошибки, память, GPU.
Для ИИ дополнительно: качество, дрифт, стоимость запросов, доступность AI-сервисов.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3D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26910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Примеры порогов: &gt;3 с; &gt;10 ошибок/час; &gt;80% памяти; &gt;90% GPU — повод проверить.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23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Практика — ИИ-помощник для зоомагазина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E89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66534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Фото кота </a:t>
            </a:r>
            <a:r>
              <a:rPr lang="ru-RU" sz="1600" b="0">
                <a:solidFill>
                  <a:srgbClr val="2A313D"/>
                </a:solidFill>
                <a:latin typeface="Aptos"/>
              </a:rPr>
              <a:t>-</a:t>
            </a:r>
            <a:r>
              <a:rPr sz="1600" b="0">
                <a:solidFill>
                  <a:srgbClr val="2A313D"/>
                </a:solidFill>
                <a:latin typeface="Aptos"/>
              </a:rPr>
              <a:t> порода </a:t>
            </a:r>
            <a:r>
              <a:rPr lang="ru-RU" sz="1600" b="0">
                <a:solidFill>
                  <a:srgbClr val="2A313D"/>
                </a:solidFill>
                <a:latin typeface="Aptos"/>
              </a:rPr>
              <a:t>-</a:t>
            </a:r>
            <a:r>
              <a:rPr sz="1600" b="0">
                <a:solidFill>
                  <a:srgbClr val="2A313D"/>
                </a:solidFill>
                <a:latin typeface="Aptos"/>
              </a:rPr>
              <a:t> рекомендация корма.
Вопросы: бизнес-задача? данные? 2 риска? 2 действия дежурного?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31165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Цель упражнения — пройти все этапы жизненного цикла.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24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Чек-лист — всё ли мы запомнили?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3A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25831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6 этапов; данные часто требуют больше времени; Data Drift — изменение реальных данных; MLOps — управление жизненным циклом ML.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4044315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1600" b="0">
                <a:solidFill>
                  <a:srgbClr val="2A313D"/>
                </a:solidFill>
                <a:latin typeface="Aptos"/>
              </a:rPr>
              <a:t>Т</a:t>
            </a:r>
            <a:r>
              <a:rPr sz="1600" b="0">
                <a:solidFill>
                  <a:srgbClr val="2A313D"/>
                </a:solidFill>
                <a:latin typeface="Aptos"/>
              </a:rPr>
              <a:t>ермин</a:t>
            </a:r>
            <a:r>
              <a:rPr lang="ru-RU" sz="1600" b="0">
                <a:solidFill>
                  <a:srgbClr val="2A313D"/>
                </a:solidFill>
                <a:latin typeface="Aptos"/>
              </a:rPr>
              <a:t>ы</a:t>
            </a:r>
            <a:r>
              <a:rPr sz="1600" b="0">
                <a:solidFill>
                  <a:srgbClr val="2A313D"/>
                </a:solidFill>
                <a:latin typeface="Aptos"/>
              </a:rPr>
              <a:t> своими словами.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25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Заключение — три закона инженера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1B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846320" cy="38221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1. Жизненный цикл не заканчивается на коде.
2. Документация нужна прежде всего команде.
3. Стандарты помогают формализовать работу.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379793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Хороший инженер умеет сделать систему понятной, проверяемой, обновляемой и ремонтопригодной.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26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53A"/>
                </a:solidFill>
                <a:latin typeface="Aptos"/>
              </a:rPr>
              <a:t>Что изучить дальше</a:t>
            </a:r>
            <a:endParaRPr sz="29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4480560"/>
          </a:xfrm>
          <a:prstGeom prst="rect">
            <a:avLst/>
          </a:prstGeom>
          <a:solidFill>
            <a:srgbClr val="7D5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Главная мысль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847215"/>
            <a:ext cx="4300855" cy="1568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CRISP-DM </a:t>
            </a:r>
            <a:endParaRPr sz="1600" b="0">
              <a:solidFill>
                <a:srgbClr val="2A313D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Doc</a:t>
            </a:r>
            <a:r>
              <a:rPr lang="en-US" sz="1600" b="0">
                <a:solidFill>
                  <a:srgbClr val="2A313D"/>
                </a:solidFill>
                <a:latin typeface="Aptos"/>
              </a:rPr>
              <a:t>ker</a:t>
            </a:r>
            <a:r>
              <a:rPr sz="1600" b="0">
                <a:solidFill>
                  <a:srgbClr val="2A313D"/>
                </a:solidFill>
                <a:latin typeface="Aptos"/>
              </a:rPr>
              <a:t> </a:t>
            </a:r>
            <a:endParaRPr sz="1600" b="0">
              <a:solidFill>
                <a:srgbClr val="2A313D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Kubernetes  </a:t>
            </a:r>
            <a:endParaRPr sz="1600" b="0">
              <a:solidFill>
                <a:srgbClr val="2A313D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CI/CD </a:t>
            </a:r>
            <a:endParaRPr sz="1600" b="0">
              <a:solidFill>
                <a:srgbClr val="2A313D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API </a:t>
            </a:r>
            <a:endParaRPr sz="1600" b="0">
              <a:solidFill>
                <a:srgbClr val="2A313D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MLflow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4480560"/>
          </a:xfrm>
          <a:prstGeom prst="rect">
            <a:avLst/>
          </a:prstGeom>
          <a:solidFill>
            <a:srgbClr val="4A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463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B253A"/>
                </a:solidFill>
                <a:latin typeface="Aptos"/>
              </a:rPr>
              <a:t>Запомнить / пример</a:t>
            </a:r>
            <a:endParaRPr sz="1600" b="1">
              <a:solidFill>
                <a:srgbClr val="1B25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847215"/>
            <a:ext cx="3788410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A313D"/>
                </a:solidFill>
                <a:latin typeface="Aptos"/>
              </a:rPr>
              <a:t>Для самостоятельного изучения: RAISA (РСХБ), «ML Фаб» (RAMAX Group), MLOps Уралсиба + GlowByte.</a:t>
            </a:r>
            <a:endParaRPr sz="1600" b="0">
              <a:solidFill>
                <a:srgbClr val="2A31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697280"/>
                </a:solidFill>
                <a:latin typeface="Aptos"/>
              </a:rPr>
              <a:t>27</a:t>
            </a:r>
            <a:endParaRPr sz="1000" b="1">
              <a:solidFill>
                <a:srgbClr val="69728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6743</Words>
  <Application>WPS Presentation</Application>
  <PresentationFormat>On-screen Show (4:3)</PresentationFormat>
  <Paragraphs>391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Arial</vt:lpstr>
      <vt:lpstr>Aptos</vt:lpstr>
      <vt:lpstr>Thonburi</vt:lpstr>
      <vt:lpstr>Calibri</vt:lpstr>
      <vt:lpstr>Helvetica Neue</vt:lpstr>
      <vt:lpstr>Microsoft YaHei</vt:lpstr>
      <vt:lpstr>汉仪旗黑</vt:lpstr>
      <vt:lpstr>Arial Unicode MS</vt:lpstr>
      <vt:lpstr>DIN Condensed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reckless</cp:lastModifiedBy>
  <cp:revision>2</cp:revision>
  <dcterms:created xsi:type="dcterms:W3CDTF">2026-09-04T10:22:05Z</dcterms:created>
  <dcterms:modified xsi:type="dcterms:W3CDTF">2026-09-04T10:22:05Z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91A35E843F0CEAEBCD9B9A6A9F53BAE9_42</vt:lpwstr>
  </property>
  <property fmtid="{D5CDD505-2E9C-101B-9397-08002B2CF9AE}" pid="3" name="KSOProductBuildVer">
    <vt:lpwstr>1033-6.11.0.8608</vt:lpwstr>
  </property>
</Properties>
</file>